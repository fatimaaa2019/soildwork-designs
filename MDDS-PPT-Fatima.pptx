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73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1" r:id="rId12"/>
    <p:sldId id="267" r:id="rId13"/>
    <p:sldId id="272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9C438-BFAD-B26D-1139-D4A4EEC23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BF20A-5260-2D82-661B-8ECFE6E5A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79F32-976D-1735-DA88-AF01C8ACD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FC28-584F-4B2F-BE52-D3CFAEF34048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80F3B-3604-B08F-CBD6-43A10AFBF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0BF31-D18D-9A94-D328-175C27EA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EB95-4C20-426A-BF59-2622EE475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532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C58A-954E-C261-35D2-43C160C69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FA89D-7A33-A0B9-59BA-58056B872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89356-51B8-956D-7258-162A45C2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FC28-584F-4B2F-BE52-D3CFAEF34048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ACE29-2CD2-5080-7982-B501C410F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67A50-D55B-EAFB-269A-844DA1FE6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EB95-4C20-426A-BF59-2622EE475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46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2BC21-D2CF-C11E-D645-10BEF7258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B4DBFB-6ECF-872C-87E6-FDD677CC3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74FB6-0D06-B439-45A7-AA8F4FEF5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FC28-584F-4B2F-BE52-D3CFAEF34048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314ED-996A-6E45-0E34-A43CEEFEF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205DB-34D5-04E2-81DC-B36CF95A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EB95-4C20-426A-BF59-2622EE475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66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6816-EA79-6E53-86AD-127B240E9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DC58F-102E-0D3A-8AEE-E8B92C213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68E30-3444-167B-379F-9FE77CCCF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FFC08-2A9C-DE00-D663-F74688BE6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FC28-584F-4B2F-BE52-D3CFAEF34048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1904D-1FF6-BCC2-7CDF-474DB7E26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67C4FB-D837-2245-71D6-F317F6B01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EB95-4C20-426A-BF59-2622EE475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60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DD1B9-09E6-9E89-5D3B-89C2EED7B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38F20-AB49-B309-8DFE-06BCE77BD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BB203-4C67-577B-3D41-561C023B3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3A6F3-2C45-C989-8CD1-2B4205A3D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07B537-4397-A7B6-6344-5293BF1D22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AA61BE-88A7-7395-7C76-2D6C41D3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FC28-584F-4B2F-BE52-D3CFAEF34048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8495E2-5238-6D56-D6B4-962E069A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F8580E-0107-682A-513E-95BC34D61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EB95-4C20-426A-BF59-2622EE475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849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80B5E-1AB7-A5A7-D62E-9A67E2562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1ED257-1298-DC55-139F-B754C630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FC28-584F-4B2F-BE52-D3CFAEF34048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25F234-334C-7077-57D6-2407D359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A54AC0-3CEE-C637-1F51-0772581B2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EB95-4C20-426A-BF59-2622EE475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494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776DF7-A979-4DEB-879F-F75A949EA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FC28-584F-4B2F-BE52-D3CFAEF34048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719A3C-011D-0112-8A3B-F1D4E4DB8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26DB5-C458-2E41-A206-B7459D9ED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EB95-4C20-426A-BF59-2622EE475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9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22016-75FA-57DF-714D-6867C715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1ED1-993B-DC4E-0ED3-E37F9BA48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0A658-04D2-D785-344B-852818A2B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505CA-A804-CA2E-3DD7-0F2CE7E8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FC28-584F-4B2F-BE52-D3CFAEF34048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39F76-430D-6AC9-543E-BCD44A55B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738AC-6525-C92C-D007-D8C6235E8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EB95-4C20-426A-BF59-2622EE475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03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F8228-63DC-FAC0-DAFD-19E3423BC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7A5D33-77E1-35A0-2E08-1419FA4CB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064A2B-A746-B819-4AC3-E275AD811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22C3-9345-3BB6-9BDF-AB2C2801A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FC28-584F-4B2F-BE52-D3CFAEF34048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5D4B08-4052-0776-42A8-3DE359C1E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F8557-55FD-6F6D-71B5-624048BF4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EB95-4C20-426A-BF59-2622EE475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05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E0A2-02CC-E2AA-7B5D-CB4DF1F41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2BC67-8DB8-24AD-4FB1-649102A14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CFC48-856D-695A-BB9B-2B302838A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FC28-584F-4B2F-BE52-D3CFAEF34048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6115E-590C-5B7F-86D6-1059BDE1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56137-03D7-2674-BB60-7B4CAEB35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EB95-4C20-426A-BF59-2622EE475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46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47612-44B7-F24A-21C0-3BFA222F05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A7E14-DD08-2BD2-1AE2-4391DEC59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1077B-6F73-5FC7-DA6D-1F4F9D6F0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5FC28-584F-4B2F-BE52-D3CFAEF34048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9E6D9-251A-E08A-570D-81E54935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4CC5C2-2B2B-9807-346F-AA1FDBB44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0EB95-4C20-426A-BF59-2622EE475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59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BFF652-683A-4FF5-44E4-D960A49DC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0889F-1990-6444-5A1E-A24AC78A1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8F303-337B-D4C3-C8B0-515CCB4EC2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5FC28-584F-4B2F-BE52-D3CFAEF34048}" type="datetimeFigureOut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57631-4ADD-336D-F49D-06DF58BC2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E1B3A-4335-D54F-4427-2C8B04793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0EB95-4C20-426A-BF59-2622EE475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88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28830-7B88-2A16-72C7-78654AAF3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6237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Device Design and Safety (MDDS)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F33959-BB23-7DEE-1C18-492EACA59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47935"/>
            <a:ext cx="9144000" cy="2109866"/>
          </a:xfrm>
        </p:spPr>
        <p:txBody>
          <a:bodyPr>
            <a:normAutofit fontScale="92500" lnSpcReduction="10000"/>
          </a:bodyPr>
          <a:lstStyle/>
          <a:p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</a:t>
            </a:r>
            <a:r>
              <a:rPr lang="en-US" sz="3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Ambu</a:t>
            </a:r>
            <a:r>
              <a:rPr lang="en-US" sz="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-Bag </a:t>
            </a:r>
            <a:r>
              <a:rPr lang="en-US" sz="3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Ventilator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Fatima </a:t>
            </a:r>
            <a:r>
              <a:rPr lang="en-US" sz="3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Nazir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(499916)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Maira Akhtar   (493397)</a:t>
            </a:r>
          </a:p>
        </p:txBody>
      </p:sp>
    </p:spTree>
    <p:extLst>
      <p:ext uri="{BB962C8B-B14F-4D97-AF65-F5344CB8AC3E}">
        <p14:creationId xmlns:p14="http://schemas.microsoft.com/office/powerpoint/2010/main" val="869235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D7B4-006A-563D-BC1C-6E81AE774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923" y="2245324"/>
            <a:ext cx="4183703" cy="2965408"/>
          </a:xfrm>
          <a:prstGeom prst="rect">
            <a:avLst/>
          </a:prstGeom>
        </p:spPr>
      </p:pic>
      <p:sp>
        <p:nvSpPr>
          <p:cNvPr id="13" name="Rectangle 8"/>
          <p:cNvSpPr>
            <a:spLocks noGrp="1" noChangeArrowheads="1"/>
          </p:cNvSpPr>
          <p:nvPr>
            <p:ph idx="1"/>
          </p:nvPr>
        </p:nvSpPr>
        <p:spPr bwMode="auto">
          <a:xfrm>
            <a:off x="242966" y="1766570"/>
            <a:ext cx="7057244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Objective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aim is to design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3D model of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mechanical ventilator that automates an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Ambu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(bag valve mask) bag to assist patients with compromised respiratory function, using a DC motor to convert rotary motion into linear compression.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Features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ventilator is modeled in Fusion 360 with a compact, lightweight plastic frame that minimizes material usage while maintaining structural strength, making it ideal for emergency and low-resource settings.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Pandemic Relevance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COVID-19 pandemic created a global shortage of ventilators, with 3–26% of patients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depending on age and severity</a:t>
            </a:r>
            <a:r>
              <a:rPr kumimoji="0" lang="en-US" alt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requiring mechanical breathing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Supply Challenges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Due to supply chain issues and transport restrictions during the pandemic, access to conventional ventilators was limited, prompting the need for affordable alternatives.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 Benefits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Automated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Ambu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-bag ventilators are easy to produce, require minimal training to operate, and free up medical staff for other critical tasks, making them suitable for hospitals and patient transport.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66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D7B4-006A-563D-BC1C-6E81AE774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WORKING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9567" y="4170417"/>
            <a:ext cx="4317472" cy="2971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187576" y="1523221"/>
            <a:ext cx="895802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working of a Mechanical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Ambu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-Bag Ventilator involves a DC motor rotating a crank or gear mechanism, which converts rotary motion into linear motion using a slider-crank system. This linear motion compresses the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Ambu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bag to deliver air into the patient’s lungs. As the arm retracts, the bag refills with air, preparing for the next cycle. This process repeats continuously at a controlled rate to mimic normal breathing.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997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1A77-21F6-E85A-CA2C-E58A1A567E5A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VISION TO VIRTUAL MODEL</a:t>
            </a:r>
          </a:p>
        </p:txBody>
      </p:sp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5442" y="1853106"/>
            <a:ext cx="7821116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7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ABBCE-3B26-0D61-770D-F59A775C9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079" y="390647"/>
            <a:ext cx="6019800" cy="104806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BREAKDOWN</a:t>
            </a:r>
          </a:p>
        </p:txBody>
      </p:sp>
      <p:pic>
        <p:nvPicPr>
          <p:cNvPr id="14" name="Picture 13"/>
          <p:cNvPicPr/>
          <p:nvPr/>
        </p:nvPicPr>
        <p:blipFill>
          <a:blip r:embed="rId2"/>
          <a:stretch>
            <a:fillRect/>
          </a:stretch>
        </p:blipFill>
        <p:spPr>
          <a:xfrm>
            <a:off x="7450112" y="1612071"/>
            <a:ext cx="1897718" cy="2285372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3"/>
          <a:stretch>
            <a:fillRect/>
          </a:stretch>
        </p:blipFill>
        <p:spPr>
          <a:xfrm>
            <a:off x="10187280" y="1655785"/>
            <a:ext cx="1830757" cy="224165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79" y="4364146"/>
            <a:ext cx="2200582" cy="223633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508" y="1998335"/>
            <a:ext cx="2938072" cy="23658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093" y="1811230"/>
            <a:ext cx="2894562" cy="2236114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4661" y="4234449"/>
            <a:ext cx="2827274" cy="246077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4346" y="4427585"/>
            <a:ext cx="3726244" cy="210945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7830" y="4269402"/>
            <a:ext cx="2762445" cy="196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73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25D99-9301-07E0-BFD0-611E9E7BC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0280"/>
            <a:ext cx="2729459" cy="6124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LCD + Buttons + Cover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202928" y="1691962"/>
            <a:ext cx="4167891" cy="201739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212" y="3195201"/>
            <a:ext cx="5115639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9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30E75-6525-924F-517D-353FC19C6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16325"/>
            <a:ext cx="2729459" cy="4960638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/>
              <a:t>Ambu</a:t>
            </a:r>
            <a:r>
              <a:rPr lang="en-US" b="1" dirty="0"/>
              <a:t> Bag Base 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788" y="1753849"/>
            <a:ext cx="5358092" cy="401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74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83E2C-6D84-6D2D-3F06-A1F4DA311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5336"/>
            <a:ext cx="2715883" cy="4891627"/>
          </a:xfrm>
        </p:spPr>
        <p:txBody>
          <a:bodyPr/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</a:t>
            </a:r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095" y="0"/>
            <a:ext cx="2990456" cy="35212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53" y="2338465"/>
            <a:ext cx="4015878" cy="21880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890" y="2183404"/>
            <a:ext cx="2375357" cy="234308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1183" y="4219239"/>
            <a:ext cx="2559214" cy="226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308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CF128-D53F-59A6-8BAA-EF3A2C209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8468"/>
            <a:ext cx="10515600" cy="4957232"/>
          </a:xfrm>
        </p:spPr>
        <p:txBody>
          <a:bodyPr>
            <a:normAutofit/>
          </a:bodyPr>
          <a:lstStyle/>
          <a:p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Pushers Arm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Pusher</a:t>
            </a:r>
          </a:p>
          <a:p>
            <a:pPr marL="0" indent="0">
              <a:buNone/>
            </a:pP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778" y="2544743"/>
            <a:ext cx="4229690" cy="3267531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7165298" y="2346589"/>
            <a:ext cx="3462728" cy="331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907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102" y="1414181"/>
            <a:ext cx="4629796" cy="402963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66884" y="1251809"/>
            <a:ext cx="1823897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40640" lvl="0" indent="-342900" algn="just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Crank Plate</a:t>
            </a:r>
            <a:endParaRPr lang="en-US" sz="2400" b="1" dirty="0">
              <a:solidFill>
                <a:srgbClr val="1F4D78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64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2444" y="1251809"/>
            <a:ext cx="1012778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40640" lvl="0" indent="-342900" algn="just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Pump</a:t>
            </a:r>
            <a:endParaRPr lang="en-US" sz="2400" b="1" dirty="0">
              <a:solidFill>
                <a:srgbClr val="1F4D78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285" y="284813"/>
            <a:ext cx="4803516" cy="33577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28" y="2618446"/>
            <a:ext cx="4477375" cy="36485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r="8789"/>
          <a:stretch/>
        </p:blipFill>
        <p:spPr>
          <a:xfrm>
            <a:off x="6115215" y="3284023"/>
            <a:ext cx="3733324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39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244FE27-896E-1F4A-E5B9-65F66578FCBC}"/>
              </a:ext>
            </a:extLst>
          </p:cNvPr>
          <p:cNvSpPr/>
          <p:nvPr/>
        </p:nvSpPr>
        <p:spPr>
          <a:xfrm>
            <a:off x="705911" y="396815"/>
            <a:ext cx="4728731" cy="8281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</a:p>
        </p:txBody>
      </p:sp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1646896" y="1380868"/>
            <a:ext cx="3075005" cy="1976213"/>
          </a:xfrm>
          <a:prstGeom prst="rect">
            <a:avLst/>
          </a:prstGeom>
        </p:spPr>
      </p:pic>
      <p:pic>
        <p:nvPicPr>
          <p:cNvPr id="10" name="Picture 9"/>
          <p:cNvPicPr/>
          <p:nvPr/>
        </p:nvPicPr>
        <p:blipFill>
          <a:blip r:embed="rId3"/>
          <a:stretch>
            <a:fillRect/>
          </a:stretch>
        </p:blipFill>
        <p:spPr>
          <a:xfrm>
            <a:off x="5563219" y="1365409"/>
            <a:ext cx="3580541" cy="1837408"/>
          </a:xfrm>
          <a:prstGeom prst="rect">
            <a:avLst/>
          </a:prstGeom>
        </p:spPr>
      </p:pic>
      <p:pic>
        <p:nvPicPr>
          <p:cNvPr id="13" name="Picture 12"/>
          <p:cNvPicPr/>
          <p:nvPr/>
        </p:nvPicPr>
        <p:blipFill>
          <a:blip r:embed="rId4"/>
          <a:stretch>
            <a:fillRect/>
          </a:stretch>
        </p:blipFill>
        <p:spPr>
          <a:xfrm>
            <a:off x="9143760" y="810883"/>
            <a:ext cx="2688236" cy="2391934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5"/>
          <a:stretch>
            <a:fillRect/>
          </a:stretch>
        </p:blipFill>
        <p:spPr>
          <a:xfrm>
            <a:off x="914909" y="3357081"/>
            <a:ext cx="4310734" cy="2734328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6"/>
          <a:stretch>
            <a:fillRect/>
          </a:stretch>
        </p:blipFill>
        <p:spPr>
          <a:xfrm>
            <a:off x="6399405" y="3702682"/>
            <a:ext cx="4813238" cy="260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22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244FE27-896E-1F4A-E5B9-65F66578FCBC}"/>
              </a:ext>
            </a:extLst>
          </p:cNvPr>
          <p:cNvSpPr/>
          <p:nvPr/>
        </p:nvSpPr>
        <p:spPr>
          <a:xfrm>
            <a:off x="705911" y="396815"/>
            <a:ext cx="4728731" cy="8281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15639" y="1644675"/>
            <a:ext cx="8022445" cy="453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38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E9901-012D-CD2E-9B01-A1A16001F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2" y="1028297"/>
            <a:ext cx="7468317" cy="916375"/>
          </a:xfrm>
          <a:solidFill>
            <a:schemeClr val="bg2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Faced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Flowchart: Delay 4">
            <a:extLst>
              <a:ext uri="{FF2B5EF4-FFF2-40B4-BE49-F238E27FC236}">
                <a16:creationId xmlns:a16="http://schemas.microsoft.com/office/drawing/2014/main" id="{E7550903-CA57-351C-5CC7-7AE7F1549829}"/>
              </a:ext>
            </a:extLst>
          </p:cNvPr>
          <p:cNvSpPr/>
          <p:nvPr/>
        </p:nvSpPr>
        <p:spPr>
          <a:xfrm>
            <a:off x="2303595" y="4471555"/>
            <a:ext cx="3143986" cy="1854037"/>
          </a:xfrm>
          <a:prstGeom prst="flowChartDelay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5016D6-27C4-ABD3-7E68-67BD57845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595" y="2542640"/>
            <a:ext cx="3225937" cy="17727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24A0A7-66DA-39A1-8C10-00C0D7F850B8}"/>
              </a:ext>
            </a:extLst>
          </p:cNvPr>
          <p:cNvSpPr txBox="1"/>
          <p:nvPr/>
        </p:nvSpPr>
        <p:spPr>
          <a:xfrm>
            <a:off x="2242868" y="3133742"/>
            <a:ext cx="6898974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 Of Moving </a:t>
            </a:r>
            <a:r>
              <a:rPr lang="en-US" sz="22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parts </a:t>
            </a:r>
            <a:endParaRPr lang="en-US" sz="2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559F0C-1B59-9470-D6A1-BB453E8B94BC}"/>
              </a:ext>
            </a:extLst>
          </p:cNvPr>
          <p:cNvSpPr txBox="1"/>
          <p:nvPr/>
        </p:nvSpPr>
        <p:spPr>
          <a:xfrm>
            <a:off x="2242868" y="5296737"/>
            <a:ext cx="7217092" cy="4308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</a:t>
            </a:r>
          </a:p>
        </p:txBody>
      </p:sp>
      <p:sp>
        <p:nvSpPr>
          <p:cNvPr id="11" name="Arrow: Notched Right 10">
            <a:extLst>
              <a:ext uri="{FF2B5EF4-FFF2-40B4-BE49-F238E27FC236}">
                <a16:creationId xmlns:a16="http://schemas.microsoft.com/office/drawing/2014/main" id="{9336217D-8777-0F62-9287-A6419D0EF3A0}"/>
              </a:ext>
            </a:extLst>
          </p:cNvPr>
          <p:cNvSpPr/>
          <p:nvPr/>
        </p:nvSpPr>
        <p:spPr>
          <a:xfrm>
            <a:off x="-1" y="3133742"/>
            <a:ext cx="1552755" cy="484632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Notched Right 12">
            <a:extLst>
              <a:ext uri="{FF2B5EF4-FFF2-40B4-BE49-F238E27FC236}">
                <a16:creationId xmlns:a16="http://schemas.microsoft.com/office/drawing/2014/main" id="{C73551F8-A55C-A806-2E3E-8FC4D8CE5006}"/>
              </a:ext>
            </a:extLst>
          </p:cNvPr>
          <p:cNvSpPr/>
          <p:nvPr/>
        </p:nvSpPr>
        <p:spPr>
          <a:xfrm>
            <a:off x="0" y="5132717"/>
            <a:ext cx="1552754" cy="551893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1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DED84F-47DD-6630-7CA2-0F13F55D76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988762"/>
              </p:ext>
            </p:extLst>
          </p:nvPr>
        </p:nvGraphicFramePr>
        <p:xfrm>
          <a:off x="785004" y="1647645"/>
          <a:ext cx="10568796" cy="2397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0996">
                  <a:extLst>
                    <a:ext uri="{9D8B030D-6E8A-4147-A177-3AD203B41FA5}">
                      <a16:colId xmlns:a16="http://schemas.microsoft.com/office/drawing/2014/main" val="42884906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32683014"/>
                    </a:ext>
                  </a:extLst>
                </a:gridCol>
              </a:tblGrid>
              <a:tr h="40057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Merits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Demerits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7937204"/>
                  </a:ext>
                </a:extLst>
              </a:tr>
              <a:tr h="400571">
                <a:tc>
                  <a:txBody>
                    <a:bodyPr/>
                    <a:lstStyle/>
                    <a:p>
                      <a:r>
                        <a:rPr lang="en-US" dirty="0"/>
                        <a:t>Precise 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/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Limited Load Capacity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331232"/>
                  </a:ext>
                </a:extLst>
              </a:tr>
              <a:tr h="395084">
                <a:tc>
                  <a:txBody>
                    <a:bodyPr/>
                    <a:lstStyle/>
                    <a:p>
                      <a:r>
                        <a:rPr lang="en-US" dirty="0"/>
                        <a:t>Compact and User-Friendly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Lack of Automation Feedback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536426"/>
                  </a:ext>
                </a:extLst>
              </a:tr>
              <a:tr h="400571">
                <a:tc>
                  <a:txBody>
                    <a:bodyPr/>
                    <a:lstStyle/>
                    <a:p>
                      <a:r>
                        <a:rPr lang="en-US" b="0" dirty="0"/>
                        <a:t>Cost-Effective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Power Dependency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64690"/>
                  </a:ext>
                </a:extLst>
              </a:tr>
              <a:tr h="400571">
                <a:tc>
                  <a:txBody>
                    <a:bodyPr/>
                    <a:lstStyle/>
                    <a:p>
                      <a:r>
                        <a:rPr lang="en-US" dirty="0"/>
                        <a:t>Customizable Flow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 Calibration Needed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6546039"/>
                  </a:ext>
                </a:extLst>
              </a:tr>
              <a:tr h="400571">
                <a:tc>
                  <a:txBody>
                    <a:bodyPr/>
                    <a:lstStyle/>
                    <a:p>
                      <a:r>
                        <a:rPr lang="en-US" dirty="0"/>
                        <a:t>Visual Clarity Through CAD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040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30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778" y="1370047"/>
            <a:ext cx="7256069" cy="435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1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332</Words>
  <Application>Microsoft Office PowerPoint</Application>
  <PresentationFormat>Widescreen</PresentationFormat>
  <Paragraphs>39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Medical Device Design and Safety (MDDS)</vt:lpstr>
      <vt:lpstr>INTRODUCTION</vt:lpstr>
      <vt:lpstr>WORKING PRINCIPLE</vt:lpstr>
      <vt:lpstr>FROM VISION TO VIRTUAL MODEL</vt:lpstr>
      <vt:lpstr>DESIGN BREAKDOWN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Device Design and Safety (MDDS)</dc:title>
  <dc:creator>Ayesha Ghulam Ali</dc:creator>
  <cp:lastModifiedBy>lenovo</cp:lastModifiedBy>
  <cp:revision>17</cp:revision>
  <dcterms:created xsi:type="dcterms:W3CDTF">2025-05-20T11:04:58Z</dcterms:created>
  <dcterms:modified xsi:type="dcterms:W3CDTF">2025-06-03T13:33:57Z</dcterms:modified>
</cp:coreProperties>
</file>